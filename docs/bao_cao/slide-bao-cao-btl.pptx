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Hệ quản trị cơ sở dữ liệu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Đề tài: Xây dựng hệ thống khai thác và dự đoán thị trường crypto từ sàn giao dịch Binance và đưa ra gợi ý đầu tư</a:t>
            </a:r>
          </a:p>
          <a:p/>
          <a:p>
            <a:r>
              <a:t>Crypto Social Intelligence Pipeline</a:t>
            </a:r>
          </a:p>
          <a:p/>
          <a:p>
            <a:r>
              <a:t>GVHD: Trần Quốc Khánh | Nhóm 5</a:t>
            </a:r>
          </a:p>
        </p:txBody>
      </p:sp>
      <p:pic>
        <p:nvPicPr>
          <p:cNvPr id="4" name="Picture 3" descr="image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Thành viên &amp; phân công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/>
                        <a:t>STT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Họ và tên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MSSV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Module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Bùi An Du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B23DCKH026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Kiến trúc, CSDL, Ingest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Thiều Quang Mạnh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B23DCKH075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Influence Weighting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Đinh Việt Dũng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B23DCKH031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Sentiment Score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Nguyễn Vĩnh Tùng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B23DCKH130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Influence worker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Ngô Văn Phương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B23DCKH092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Proprietary Scoring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200" b="1"/>
                        <a:t>#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Mục tiêu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Kết quả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 thập đa nguồn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raw_events schema thống nhất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Giảm dữ liệu rác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Cascade L1→L2→L3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Map coin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Top 10 coin, fan-out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Sentiment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Score [-1,1], aggregate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Influence + tín hiệu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BUY/HOLD/SELL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lục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Vấn đề &amp; mục tiêu</a:t>
            </a:r>
          </a:p>
          <a:p>
            <a:pPr/>
            <a:r>
              <a:t>Tổng quan hệ thống</a:t>
            </a:r>
          </a:p>
          <a:p>
            <a:pPr/>
            <a:r>
              <a:t>Pipeline 7 giai đoạn</a:t>
            </a:r>
          </a:p>
          <a:p>
            <a:pPr/>
            <a:r>
              <a:t>Thiết kế MongoDB (trọng tâm)</a:t>
            </a:r>
          </a:p>
          <a:p>
            <a:pPr/>
            <a:r>
              <a:t>Kiến trúc &amp; giao diện web</a:t>
            </a:r>
          </a:p>
          <a:p>
            <a:pPr/>
            <a:r>
              <a:t>Hiện thực &amp; kiểm thử</a:t>
            </a:r>
          </a:p>
          <a:p>
            <a:pPr/>
            <a:r>
              <a:t>Kết luận &amp; hướng phát triển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Bối cảnh &amp; vấn đề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Thị trường crypto phản ứng nhanh trước tin tức, KOL và tâm lý social</a:t>
            </a:r>
          </a:p>
          <a:p>
            <a:pPr/>
            <a:r>
              <a:t>Dư luận có thể thay đổi trước khi giá biểu hiện trên chart</a:t>
            </a:r>
          </a:p>
          <a:p>
            <a:pPr/>
            <a:r>
              <a:t>Thách thức: đa nguồn, spam/bot/shill, một post nhiều coin</a:t>
            </a:r>
          </a:p>
          <a:p>
            <a:pPr/>
            <a:r>
              <a:t>Không chuẩn hóa → sentiment tổng hợp sai lệch</a:t>
            </a:r>
          </a:p>
          <a:p>
            <a:pPr/>
            <a:r>
              <a:t>Giải pháp: Pipeline 7 stage + MongoDB event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Phạm vi &amp; công nghệ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Ngôn ngữ: tiếng Anh | Nguồn: Twitter, Alpha Vantage, Yahoo, Reddit</a:t>
            </a:r>
          </a:p>
          <a:p>
            <a:pPr/>
            <a:r>
              <a:t>Coin: BTC, ETH, SOL, BNB, XRP, ADA, DOGE, AVAX, DOT, LINK</a:t>
            </a:r>
          </a:p>
          <a:p>
            <a:pPr/>
            <a:r>
              <a:t>Timeframe: 15m, 30m, 1h, 4h, 1d (scoring mặc định 1h)</a:t>
            </a:r>
          </a:p>
          <a:p>
            <a:pPr/>
            <a:r>
              <a:t>MongoDB 7 — event store | Python 3.12 — pipeline workers</a:t>
            </a:r>
          </a:p>
          <a:p>
            <a:pPr/>
            <a:r>
              <a:t>FastAPI + WebSocket — API realtime | React 19 — Dashboard, Chat</a:t>
            </a:r>
          </a:p>
          <a:p>
            <a:pPr/>
            <a:r>
              <a:t>FinBERT, FastText, Polars, CCXT, OpenRouter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quan sản phẩm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Crypto Social Intelligence Pipeline — ứng dụng web full-stack</a:t>
            </a:r>
          </a:p>
          <a:p>
            <a:pPr/>
            <a:r>
              <a:t>Luồng: Dashboard TradingView → nút Phân tích → Chat (planning + ETL progress + LLM report) → Tải PDF</a:t>
            </a:r>
          </a:p>
          <a:p>
            <a:pPr/>
            <a:r>
              <a:t>Xem chart nến + giá realtime (Binance/CCXT)</a:t>
            </a:r>
          </a:p>
          <a:p>
            <a:pPr/>
            <a:r>
              <a:t>Chọn coin &amp; timeframe → bấm Phân tích</a:t>
            </a:r>
          </a:p>
          <a:p>
            <a:pPr/>
            <a:r>
              <a:t>Theo dõi 7 stage qua WebSocket</a:t>
            </a:r>
          </a:p>
          <a:p>
            <a:pPr/>
            <a:r>
              <a:t>Nhận báo cáo LLM + tín hiệu BUY/HOLD</a:t>
            </a:r>
          </a:p>
          <a:p>
            <a:pPr/>
            <a:r>
              <a:t>Lưu session, xem lại lịch sử, export PDF</a:t>
            </a:r>
          </a:p>
        </p:txBody>
      </p:sp>
      <p:pic>
        <p:nvPicPr>
          <p:cNvPr id="4" name="Picture 3" descr="image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5391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7 giai đoạn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200" b="1"/>
                        <a:t>Stage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Tên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Input → Output MongoDB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Ingest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API → raw_events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Filter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raw_events → clean_events / dropped_events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NER &amp; Mapping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clean_events → mapped_events (fan-out)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Sentiment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mapped_events → sentiment_events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Influence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sentiment_events → influence_aggregates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Scoring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aggregates + OHLCV → scoring_signals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000"/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LLM Insight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signals + context → analysis_reports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3200400" cy="45867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Ingest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Vai trò: Nhiều API → một schema raw event thống nhất</a:t>
            </a:r>
          </a:p>
          <a:p>
            <a:pPr/>
            <a:r>
              <a:t>Thành phần: Collector → Adapter → Validator → Dedup → Persistence</a:t>
            </a:r>
          </a:p>
          <a:p>
            <a:pPr/>
            <a:r>
              <a:t>Schema raw_events: event_id, source, external_id, raw_text, author_id, metrics</a:t>
            </a:r>
          </a:p>
          <a:p>
            <a:pPr/>
            <a:r>
              <a:t>timestamp (event time), ingested_at (processing time)</a:t>
            </a:r>
          </a:p>
          <a:p>
            <a:pPr/>
            <a:r>
              <a:t>Chống trùng: Unique index (source, external_id) — chạy lại an toàn</a:t>
            </a:r>
          </a:p>
        </p:txBody>
      </p:sp>
      <p:pic>
        <p:nvPicPr>
          <p:cNvPr id="4" name="Picture 3" descr="image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3957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Cascade 3 tầng — lọc rẻ trước, model nặng sau</a:t>
            </a:r>
          </a:p>
          <a:p>
            <a:pPr/>
            <a:r>
              <a:t>Output: PASS → clean_events · DROP → dropped_events (audit)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/>
                        <a:t>Tầng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Công nghệ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Latency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Chức năng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/>
                        <a:t>L1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Heuristic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~0.1 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Regex pump, engagement ratio, cap/author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/>
                        <a:t>L2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SimHash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~0.5 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Near-duplicate, coordinated copy-paste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/>
                        <a:t>L3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FastText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~1 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Binary spam/human classifier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840480" cy="8522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NER &amp;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Xác định coin nào được đề cập trong mỗi bài viết</a:t>
            </a:r>
          </a:p>
          <a:p>
            <a:pPr/>
            <a:r>
              <a:t>Registry Top 10 coin (config/coin_registry.json)</a:t>
            </a:r>
          </a:p>
          <a:p>
            <a:pPr/>
            <a:r>
              <a:t>Rules: cashtag $BTC, tên viết tắt, keyword</a:t>
            </a:r>
          </a:p>
          <a:p>
            <a:pPr/>
            <a:r>
              <a:t>Hybrid mode: Rules trước → LLM (OpenRouter) khi cần</a:t>
            </a:r>
          </a:p>
          <a:p>
            <a:pPr/>
            <a:r>
              <a:t>Fan-out: 1 post → N bản ghi mapped_events (1 row / coin)</a:t>
            </a:r>
          </a:p>
          <a:p>
            <a:pPr/>
            <a:r>
              <a:t>Collection: mapped_events — unique (parent_event_id, coin_id)</a:t>
            </a:r>
          </a:p>
        </p:txBody>
      </p:sp>
      <p:pic>
        <p:nvPicPr>
          <p:cNvPr id="4" name="Picture 3" descr="image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63427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Mô hình: FinBERT (Transformer cho ngôn ngữ tài chính)</a:t>
            </a:r>
          </a:p>
          <a:p>
            <a:pPr/>
            <a:r>
              <a:t>Công thức: S = P_pos - P_neg, S ∈ [-1, 1]</a:t>
            </a:r>
          </a:p>
          <a:p>
            <a:pPr/>
            <a:r>
              <a:t>Fallback: Alpha Vantage score → FinBERT → rule-based keywords</a:t>
            </a:r>
          </a:p>
          <a:p>
            <a:pPr/>
            <a:r>
              <a:t>Aggregate: Theo (coin_id, timeframe) — avg &amp; weighted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0" y="1371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1200" b="1"/>
                        <a:t>Khoảng 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Nhãn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/>
                        <a:t>S ≥ 0.15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Positive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/>
                        <a:t>-0.15 &lt; S &lt; 0.15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Neutral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/>
                        <a:t>S ≤ -0.15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Negative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Influence Weighting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Không phải mọi bài viết có giá trị ngang nhau — cần trọng số</a:t>
            </a:r>
          </a:p>
          <a:p>
            <a:pPr/>
            <a:r>
              <a:t>influence_weight = SourceWeight × TimeDecay × QualityScore × AuthorAuthority × EngagementStrength × ViralitySurprise</a:t>
            </a:r>
          </a:p>
          <a:p>
            <a:pPr/>
            <a:r>
              <a:t>weighted_sentiment = sentiment_score × influence_weight</a:t>
            </a:r>
          </a:p>
          <a:p>
            <a:pPr/>
            <a:r>
              <a:t>Aggregate cửa sổ → influence_aggregates — input chuẩn cho Stage 6</a:t>
            </a:r>
          </a:p>
          <a:p>
            <a:pPr/>
            <a:r>
              <a:t>Transport (scale-out): Kafka/Redpanda + Redis Streams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6: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Join: influence_aggregates + OHLCV Binance (CCXT/Polars)</a:t>
            </a:r>
          </a:p>
          <a:p>
            <a:pPr/>
            <a:r>
              <a:t>Galaxy Alpha Score — cơ hội (sentiment + volume social)</a:t>
            </a:r>
          </a:p>
          <a:p>
            <a:pPr/>
            <a:r>
              <a:t>Safety Score — rủi ro (volatility, CARA penalty)</a:t>
            </a:r>
          </a:p>
          <a:p>
            <a:pPr/>
            <a:r>
              <a:t>Quy tắc đầu ra: BUY / HOLD / SELL → scoring_signals</a:t>
            </a:r>
          </a:p>
          <a:p>
            <a:pPr/>
            <a:r>
              <a:t>Phát hiện phân kỳ: So sánh sentiment vs giá (KL divergence — metadata)</a:t>
            </a:r>
          </a:p>
        </p:txBody>
      </p:sp>
      <p:pic>
        <p:nvPicPr>
          <p:cNvPr id="4" name="Picture 3" descr="image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14974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7: LLM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Sau scoring: OpenRouter đọc signal + sentiment + influence + giá</a:t>
            </a:r>
          </a:p>
          <a:p>
            <a:pPr/>
            <a:r>
              <a:t>analysis_reports — tóm tắt, rủi ro, divergence, khuyến nghị</a:t>
            </a:r>
          </a:p>
          <a:p>
            <a:pPr/>
            <a:r>
              <a:t>chat_messages — stream vào UI chat</a:t>
            </a:r>
          </a:p>
          <a:p>
            <a:pPr/>
            <a:r>
              <a:t>Export PDF (WeasyPrint)</a:t>
            </a:r>
          </a:p>
          <a:p>
            <a:pPr/>
            <a:r>
              <a:t>Stage 7 chỉ diễn giải — không thay đổi action rule của Stage 6</a:t>
            </a:r>
          </a:p>
        </p:txBody>
      </p:sp>
      <p:pic>
        <p:nvPicPr>
          <p:cNvPr id="4" name="Picture 3" descr="image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14394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Thiết kế CSDL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Database: crypto_mvp · Connection qua MONGODB_URI</a:t>
            </a:r>
          </a:p>
          <a:p>
            <a:pPr/>
            <a:r>
              <a:t>Mô hình: Document-oriented — mỗi stage ghi collection riêng, join qua coin_id + timestamp</a:t>
            </a:r>
          </a:p>
          <a:p>
            <a:pPr/>
            <a:r>
              <a:t>Schema linh hoạt cho metadata NLP/filter</a:t>
            </a:r>
          </a:p>
          <a:p>
            <a:pPr/>
            <a:r>
              <a:t>Fan-out N coin/post tự nhiên · Upsert aggregate theo cửa sổ thời gian</a:t>
            </a:r>
          </a:p>
          <a:p>
            <a:pPr/>
            <a:r>
              <a:t>Phù hợp event store append-only</a:t>
            </a:r>
          </a:p>
        </p:txBody>
      </p:sp>
      <p:pic>
        <p:nvPicPr>
          <p:cNvPr id="4" name="Picture 3" descr="image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4754880" cy="22915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/>
                        <a:t>Collection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Mục đích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raw_events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Dữ liệu gốc bất biến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clean_events / dropped_events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PASS / audit DROP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mapped_events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 row / coin / post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sentiment_events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Score &amp; label per event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influence_aggregates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Input chuẩn Stage 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scoring_signals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BUY/HOLD/SELL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analysis_reports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Báo cáo LLM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analysis_sessions, chat_messages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Web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Phiên phân tích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/>
                        <a:t>pipeline_jobs, pipeline_stage_runs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Orchestrator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Audit ETL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contract &amp;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Stage 1→2: event_id, source, raw_text, metrics, timestamp</a:t>
            </a:r>
          </a:p>
          <a:p>
            <a:pPr/>
            <a:r>
              <a:t>Stage 2→3: + clean_text, filter metadata</a:t>
            </a:r>
          </a:p>
          <a:p>
            <a:pPr/>
            <a:r>
              <a:t>Stage 3→4: + coin_id, ner metadata</a:t>
            </a:r>
          </a:p>
          <a:p>
            <a:pPr/>
            <a:r>
              <a:t>Stage 4→5: + sentiment_score, sentiment_label</a:t>
            </a:r>
          </a:p>
          <a:p>
            <a:pPr/>
            <a:r>
              <a:t>Stage 5→6: aggregate (coin_id, timeframe, window_start, sentiment_score, social_volume)</a:t>
            </a:r>
          </a:p>
          <a:p>
            <a:pPr/>
            <a:r>
              <a:t>Stage 6: + OHLCV (close, volume)</a:t>
            </a:r>
          </a:p>
          <a:p>
            <a:pPr/>
            <a:r>
              <a:t>Index: raw_events unique sparse (source, external_id)</a:t>
            </a:r>
          </a:p>
          <a:p>
            <a:pPr/>
            <a:r>
              <a:t>Index: mapped_events unique (parent_event_id, coin_id)</a:t>
            </a:r>
          </a:p>
          <a:p>
            <a:pPr/>
            <a:r>
              <a:t>Index: influence_aggregates unique (coin_id, timeframe, window_start)</a:t>
            </a:r>
          </a:p>
          <a:p>
            <a:pPr/>
            <a:r>
              <a:t>Index: scoring_signals unique signal_id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Nguyên tắc: Một stage — một contract · Idempotent batch · Fail fast · Separation of concerns · Web-first UX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/>
                        <a:t>Tầng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Thành phần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Trách nhiệm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Presentation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React 19 + Mantine + Tailwind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Chart, Chat, ETL Monitor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API + Orchestrator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FastAPI REST + WS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Session, stream LLM/ETL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Processing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7 Python workers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ETL social → scoring → insight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Infrastructure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MongoDB, CCXT, OpenRouter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Event store, market data, LLM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3200400" cy="45867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GET /api/v1/market/ohlcv — datafeed chart</a:t>
            </a:r>
          </a:p>
          <a:p>
            <a:pPr/>
            <a:r>
              <a:t>POST /api/v1/analysis/sessions — trigger pipeline</a:t>
            </a:r>
          </a:p>
          <a:p>
            <a:pPr/>
            <a:r>
              <a:t>WS /ws/pipeline — ETL progress</a:t>
            </a:r>
          </a:p>
          <a:p>
            <a:pPr/>
            <a:r>
              <a:t>GET .../export/pdf — tải báo cáo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/>
                        <a:t>Màn hình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Route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Chức năng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Trading Dashboard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/dashboard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Chart TradingView, chọn coin, nút Phân tích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Chat phân tích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/analysis/:id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Planning → ETL cards → Signal → LLM stream → PDF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ETL Monitor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/etl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Graph 7 stage, progress realtime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Hiện thực &amp; môi trường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Logic nghiệp vụ Stage 1–6: playground/ (đã chạy thử)</a:t>
            </a:r>
          </a:p>
          <a:p>
            <a:pPr/>
            <a:r>
              <a:t>Sản phẩm đích: src/ + web/ (đang gom monorepo)</a:t>
            </a:r>
          </a:p>
          <a:p>
            <a:pPr/>
            <a:r>
              <a:t>Môi trường dev: CPU 8+ cores · RAM 16 GB · Python 3.12 · Docker Compose</a:t>
            </a:r>
          </a:p>
          <a:p>
            <a:pPr/>
            <a:r>
              <a:t>FinBERT CPU OK (~500 MB model cache)</a:t>
            </a:r>
          </a:p>
          <a:p>
            <a:pPr/>
            <a:r>
              <a:t>Chạy thử module: CLI từng stage → MongoDB local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Kiểm thử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TC-01: Tweet shill → DROP tại L1</a:t>
            </a:r>
          </a:p>
          <a:p>
            <a:pPr/>
            <a:r>
              <a:t>TC-03: $BTC → coin_id = BTC</a:t>
            </a:r>
          </a:p>
          <a:p>
            <a:pPr/>
            <a:r>
              <a:t>TC-07: Bullish divergence mock → BUY</a:t>
            </a:r>
          </a:p>
          <a:p>
            <a:pPr/>
            <a:r>
              <a:t>TC-09: Ingest 2 lần → không duplicate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/>
                        <a:t>Loại test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Kết quả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Unit test sentiment (rule-based)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5/5 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Unit test influence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3/3 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Scoring mock scenarios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3/3 PASS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Integration Stage 1→6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PASS (manual, batch nhỏ)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E2E Web + Stage 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Chưa đo (phụ thuộc tích hợp)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Đánh giá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Ưu điểm: Pipeline modular 7 stage, contract MongoDB rõ ràng</a:t>
            </a:r>
          </a:p>
          <a:p>
            <a:pPr/>
            <a:r>
              <a:t>Ưu điểm: NLP phù hợp domain (FinBERT, FastText spam)</a:t>
            </a:r>
          </a:p>
          <a:p>
            <a:pPr/>
            <a:r>
              <a:t>Ưu điểm: Scoring minh bạch (Galaxy dual-score + rule)</a:t>
            </a:r>
          </a:p>
          <a:p>
            <a:pPr/>
            <a:r>
              <a:t>Ưu điểm: Observable: jobs, stage_runs, WebSocket realtime</a:t>
            </a:r>
          </a:p>
          <a:p>
            <a:pPr/>
            <a:r>
              <a:t>Hạn chế: Single-node; chưa scale horizontal</a:t>
            </a:r>
          </a:p>
          <a:p>
            <a:pPr/>
            <a:r>
              <a:t>Hạn chế: Phụ thuộc API bên thứ ba (rate limit)</a:t>
            </a:r>
          </a:p>
          <a:p>
            <a:pPr/>
            <a:r>
              <a:t>Hạn chế: Chưa backtest dài hạn (PnL)</a:t>
            </a:r>
          </a:p>
          <a:p>
            <a:pPr/>
            <a:r>
              <a:t>Hạn chế: Sentiment chủ yếu tiếng Anh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Mức độ hoàn thành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Mục tiêu cốt lõi xử lý dữ liệu → tín hiệu đã đạt. Sản phẩm web hoàn chỉnh cần bước tích hợp cuối.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/>
                        <a:t>Nhóm mục tiêu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Đánh giá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Thu thập &amp; làm sạch dữ liệu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~90–95%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Phân tích nội dung &amp; sinh tín hiệu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~85–95%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Điều phối &amp; giao tiếp hệ thống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~75%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Giao diện &amp; trải nghiệm người dùng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~65–70%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Báo cáo phân tích tự động (LLM)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~70%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/>
                        <a:t>Ưu tiên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Hướng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Rất cao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Hoàn thiện web E2E · Báo cáo LLM tự động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Cao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Orchestrator tập trung · Backtest tín hiệu · Cache OHLCV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Trung bình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Mở rộng nguồn (Telegram, RSS) · Alert · Rule SELL nâng cao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/>
                        <a:t>Thấp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Đa ngôn ngữ (VN) · Đa người dùng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Crypto Social Intelligence Pipeline biến thông tin social thành gợi ý hành động có cơ sở</a:t>
            </a:r>
          </a:p>
          <a:p>
            <a:pPr/>
            <a:r>
              <a:t>Thu thập → lọc nhiễu → map coin → sentiment → influence → scoring</a:t>
            </a:r>
          </a:p>
          <a:p>
            <a:pPr/>
            <a:r>
              <a:t>Thiết kế MongoDB event store với contract &amp; index idempotent</a:t>
            </a:r>
          </a:p>
          <a:p>
            <a:pPr/>
            <a:r>
              <a:t>Thiết kế web app: chart + chat + PDF</a:t>
            </a:r>
          </a:p>
          <a:p>
            <a:pPr/>
            <a:r>
              <a:t>Đang tích hợp: orchestrator + frontend E2E</a:t>
            </a:r>
          </a:p>
          <a:p>
            <a:pPr/>
            <a:r>
              <a:t>Không thay thế tư vấn tài chính · Không giao dịch tự động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Cảm ơn thầy/cô và các bạn!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BTL — Hệ quản trị CSDL</dc:title>
  <dc:subject>Crypto Social Intelligence Pipeline</dc:subject>
  <dc:creator>Nhóm 5</dc:creator>
  <cp:keywords>MongoDB, crypto, sentiment, pipeline</cp:keywords>
  <dc:description>Học viện Công nghệ Bưu chính Viễn thông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